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5" r:id="rId1"/>
  </p:sldMasterIdLst>
  <p:notesMasterIdLst>
    <p:notesMasterId r:id="rId15"/>
  </p:notesMasterIdLst>
  <p:sldIdLst>
    <p:sldId id="256" r:id="rId2"/>
    <p:sldId id="257" r:id="rId3"/>
    <p:sldId id="259" r:id="rId4"/>
    <p:sldId id="260" r:id="rId5"/>
    <p:sldId id="261" r:id="rId6"/>
    <p:sldId id="262" r:id="rId7"/>
    <p:sldId id="266" r:id="rId8"/>
    <p:sldId id="267" r:id="rId9"/>
    <p:sldId id="269" r:id="rId10"/>
    <p:sldId id="268" r:id="rId11"/>
    <p:sldId id="272" r:id="rId12"/>
    <p:sldId id="273" r:id="rId13"/>
    <p:sldId id="274" r:id="rId14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14" y="58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2751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8933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51435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1" y="0"/>
            <a:ext cx="1728788" cy="51435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7319" y="841772"/>
            <a:ext cx="6593681" cy="179070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7319" y="2701528"/>
            <a:ext cx="6593681" cy="1241822"/>
          </a:xfrm>
        </p:spPr>
        <p:txBody>
          <a:bodyPr>
            <a:normAutofit/>
          </a:bodyPr>
          <a:lstStyle>
            <a:lvl1pPr marL="0" indent="0" algn="l">
              <a:buNone/>
              <a:defRPr sz="1500" cap="all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08133" y="4057651"/>
            <a:ext cx="2057400" cy="273844"/>
          </a:xfrm>
        </p:spPr>
        <p:txBody>
          <a:bodyPr/>
          <a:lstStyle/>
          <a:p>
            <a:fld id="{4AAD347D-5ACD-4C99-B74B-A9C85AD731AF}" type="datetimeFigureOut">
              <a:rPr lang="en-US" smtClean="0"/>
              <a:t>2025-12-03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07318" y="4057651"/>
            <a:ext cx="3843665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22684" y="4057650"/>
            <a:ext cx="578317" cy="273844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62000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2025-12-03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5254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064420"/>
            <a:ext cx="7429500" cy="2139553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318272"/>
            <a:ext cx="7429500" cy="1031082"/>
          </a:xfrm>
        </p:spPr>
        <p:txBody>
          <a:bodyPr>
            <a:normAutofit/>
          </a:bodyPr>
          <a:lstStyle>
            <a:lvl1pPr marL="0" indent="0">
              <a:buNone/>
              <a:defRPr sz="135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2025-12-03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88573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1687114"/>
            <a:ext cx="3658792" cy="26562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687114"/>
            <a:ext cx="3656408" cy="26562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2025-12-03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35370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64345"/>
            <a:ext cx="7429500" cy="110847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515" y="1687115"/>
            <a:ext cx="3487337" cy="61793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2305048"/>
            <a:ext cx="3658793" cy="2038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6" y="1687114"/>
            <a:ext cx="3484952" cy="61793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305048"/>
            <a:ext cx="3656408" cy="2038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2025-12-03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20843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2025-12-03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48249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2025-12-03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24141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457201"/>
            <a:ext cx="2892028" cy="1229913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444499"/>
            <a:ext cx="4418407" cy="389890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1687114"/>
            <a:ext cx="2892028" cy="265628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2025-12-03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97461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4450881" cy="122991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5541" y="457201"/>
            <a:ext cx="2750018" cy="38861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1687114"/>
            <a:ext cx="4450883" cy="265628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2025-12-03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910201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3228499"/>
            <a:ext cx="7434266" cy="614516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454819"/>
            <a:ext cx="7434266" cy="2474834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4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3843015"/>
            <a:ext cx="7433144" cy="51185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2025-12-03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24184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457200"/>
            <a:ext cx="7429466" cy="2571750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3314700"/>
            <a:ext cx="7428344" cy="1028699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2025-12-03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39580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457200"/>
            <a:ext cx="6977064" cy="2061322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524168"/>
            <a:ext cx="6564224" cy="41172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3232439"/>
            <a:ext cx="7429502" cy="1117122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2025-12-03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677634" y="549295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03028" y="2073729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4722083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600531"/>
            <a:ext cx="7429501" cy="1883876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3493241"/>
            <a:ext cx="7428379" cy="855483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2025-12-03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47593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7429499" cy="14287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005847"/>
            <a:ext cx="2397674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45939" y="2520197"/>
            <a:ext cx="2406551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008226"/>
            <a:ext cx="2388289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78160" y="2522576"/>
            <a:ext cx="2396873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005847"/>
            <a:ext cx="2396226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2520197"/>
            <a:ext cx="2396226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2025-12-03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20277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457200"/>
            <a:ext cx="7429499" cy="14287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3303447"/>
            <a:ext cx="2396430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000249"/>
            <a:ext cx="2396430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3735644"/>
            <a:ext cx="2396430" cy="61338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3303447"/>
            <a:ext cx="2400300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000249"/>
            <a:ext cx="2399205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3735643"/>
            <a:ext cx="2400300" cy="60775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3303446"/>
            <a:ext cx="2393056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000249"/>
            <a:ext cx="2396227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3735641"/>
            <a:ext cx="2396226" cy="60775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2025-12-03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783622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2025-12-03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37165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457200"/>
            <a:ext cx="1503758" cy="38862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457200"/>
            <a:ext cx="5811443" cy="38862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2025-12-03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091698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5917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51435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0716" y="0"/>
            <a:ext cx="9040416" cy="51435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463888"/>
            <a:ext cx="7429499" cy="11089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1687115"/>
            <a:ext cx="7429499" cy="26562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2025-12-03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47696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57" r:id="rId12"/>
    <p:sldLayoutId id="2147483758" r:id="rId13"/>
    <p:sldLayoutId id="2147483759" r:id="rId14"/>
    <p:sldLayoutId id="2147483760" r:id="rId15"/>
    <p:sldLayoutId id="2147483761" r:id="rId16"/>
    <p:sldLayoutId id="2147483762" r:id="rId17"/>
    <p:sldLayoutId id="2147483763" r:id="rId18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486272" y="200762"/>
            <a:ext cx="4171453" cy="18851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Web Automation Project</a:t>
            </a:r>
          </a:p>
        </p:txBody>
      </p:sp>
      <p:sp>
        <p:nvSpPr>
          <p:cNvPr id="4" name="Text 1"/>
          <p:cNvSpPr/>
          <p:nvPr/>
        </p:nvSpPr>
        <p:spPr>
          <a:xfrm>
            <a:off x="2486273" y="2250777"/>
            <a:ext cx="4171453" cy="1150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Comprehensive E-Commerce Testing</a:t>
            </a:r>
          </a:p>
        </p:txBody>
      </p:sp>
      <p:sp>
        <p:nvSpPr>
          <p:cNvPr id="6" name="Text 3"/>
          <p:cNvSpPr/>
          <p:nvPr/>
        </p:nvSpPr>
        <p:spPr>
          <a:xfrm>
            <a:off x="2330564" y="3572236"/>
            <a:ext cx="4482868" cy="301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68"/>
              </a:lnSpc>
              <a:spcAft>
                <a:spcPts val="600"/>
              </a:spcAft>
              <a:buNone/>
            </a:pPr>
            <a:r>
              <a:rPr lang="en-US" sz="2400" dirty="0">
                <a:latin typeface="Arial" pitchFamily="34" charset="0"/>
                <a:ea typeface="Arial" pitchFamily="34" charset="-122"/>
                <a:cs typeface="Arial" pitchFamily="34" charset="-120"/>
              </a:rPr>
              <a:t>By</a:t>
            </a:r>
          </a:p>
          <a:p>
            <a:pPr marL="0" indent="0" algn="ctr">
              <a:lnSpc>
                <a:spcPts val="3168"/>
              </a:lnSpc>
              <a:spcAft>
                <a:spcPts val="600"/>
              </a:spcAft>
              <a:buNone/>
            </a:pPr>
            <a:r>
              <a:rPr lang="en-US" sz="24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b="1" dirty="0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Omar Abdelhakim</a:t>
            </a:r>
            <a:endParaRPr lang="en-US" sz="3000" b="1" dirty="0">
              <a:solidFill>
                <a:srgbClr val="38BDF8"/>
              </a:solidFill>
              <a:latin typeface="Arial" pitchFamily="34" charset="0"/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57250" y="545306"/>
            <a:ext cx="816102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Project?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71500" y="1653540"/>
            <a:ext cx="8161020" cy="301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68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Main Goal:</a:t>
            </a: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testing of an e-commerce website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71500" y="2145745"/>
            <a:ext cx="8161020" cy="301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68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</a:t>
            </a:r>
            <a:r>
              <a:rPr lang="en-US" sz="1500" b="1" dirty="0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Project Statistics:</a:t>
            </a:r>
          </a:p>
        </p:txBody>
      </p:sp>
      <p:sp>
        <p:nvSpPr>
          <p:cNvPr id="6" name="Text 3"/>
          <p:cNvSpPr/>
          <p:nvPr/>
        </p:nvSpPr>
        <p:spPr>
          <a:xfrm>
            <a:off x="2524686" y="2580883"/>
            <a:ext cx="7715250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36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test cases created</a:t>
            </a:r>
            <a:endParaRPr lang="en-US" sz="14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8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different pages tested</a:t>
            </a:r>
            <a:endParaRPr lang="en-US" sz="14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15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utility classes</a:t>
            </a:r>
            <a:endParaRPr lang="en-US" sz="14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15.6</a:t>
            </a:r>
            <a:r>
              <a:rPr lang="en-US" sz="14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minutes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total execution time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87094" y="1320165"/>
            <a:ext cx="8001000" cy="601978"/>
          </a:xfrm>
          <a:prstGeom prst="roundRect">
            <a:avLst>
              <a:gd name="adj" fmla="val 80842"/>
            </a:avLst>
          </a:prstGeom>
          <a:solidFill>
            <a:srgbClr val="38BDF8">
              <a:alpha val="8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893415" y="581971"/>
            <a:ext cx="816102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600"/>
              </a:lnSpc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Automation? (Main Goals)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68069" y="1435416"/>
            <a:ext cx="7830693" cy="40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223743" y="1527809"/>
            <a:ext cx="783069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68"/>
              </a:lnSpc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Time and </a:t>
            </a:r>
            <a:r>
              <a:rPr lang="en-US" sz="114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Reduce Errors</a:t>
            </a:r>
          </a:p>
          <a:p>
            <a:pPr marL="0" indent="0">
              <a:lnSpc>
                <a:spcPts val="1368"/>
              </a:lnSpc>
              <a:buNone/>
            </a:pPr>
            <a:endParaRPr lang="en-US" sz="1140" dirty="0"/>
          </a:p>
        </p:txBody>
      </p:sp>
      <p:sp>
        <p:nvSpPr>
          <p:cNvPr id="10" name="Text 7"/>
          <p:cNvSpPr/>
          <p:nvPr/>
        </p:nvSpPr>
        <p:spPr>
          <a:xfrm>
            <a:off x="668069" y="2303144"/>
            <a:ext cx="7830693" cy="40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223742" y="2403155"/>
            <a:ext cx="783069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6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Bug Detection</a:t>
            </a:r>
            <a:endParaRPr lang="en-US" sz="1140" dirty="0"/>
          </a:p>
        </p:txBody>
      </p:sp>
      <p:sp>
        <p:nvSpPr>
          <p:cNvPr id="12" name="Text 9"/>
          <p:cNvSpPr/>
          <p:nvPr/>
        </p:nvSpPr>
        <p:spPr>
          <a:xfrm>
            <a:off x="668070" y="3062946"/>
            <a:ext cx="7830693" cy="40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223743" y="3181056"/>
            <a:ext cx="783069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6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Tests Automatically with Updates</a:t>
            </a:r>
            <a:endParaRPr lang="en-US" sz="1140" dirty="0"/>
          </a:p>
        </p:txBody>
      </p:sp>
      <p:sp>
        <p:nvSpPr>
          <p:cNvPr id="14" name="Text 11"/>
          <p:cNvSpPr/>
          <p:nvPr/>
        </p:nvSpPr>
        <p:spPr>
          <a:xfrm>
            <a:off x="668070" y="3855428"/>
            <a:ext cx="7830693" cy="40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223743" y="3931920"/>
            <a:ext cx="783069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6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and Comprehensive Reports (Allure)</a:t>
            </a:r>
            <a:endParaRPr lang="en-US" sz="1140" dirty="0"/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DAEAEDB4-A520-6EF2-2C5D-F7A8D491A73F}"/>
              </a:ext>
            </a:extLst>
          </p:cNvPr>
          <p:cNvSpPr/>
          <p:nvPr/>
        </p:nvSpPr>
        <p:spPr>
          <a:xfrm>
            <a:off x="487094" y="2133527"/>
            <a:ext cx="8001000" cy="601978"/>
          </a:xfrm>
          <a:prstGeom prst="roundRect">
            <a:avLst>
              <a:gd name="adj" fmla="val 80842"/>
            </a:avLst>
          </a:prstGeom>
          <a:solidFill>
            <a:srgbClr val="38BDF8">
              <a:alpha val="8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4B5B270A-830C-8DB5-150C-2D00B9209B98}"/>
              </a:ext>
            </a:extLst>
          </p:cNvPr>
          <p:cNvSpPr/>
          <p:nvPr/>
        </p:nvSpPr>
        <p:spPr>
          <a:xfrm>
            <a:off x="487094" y="2906081"/>
            <a:ext cx="8001000" cy="601978"/>
          </a:xfrm>
          <a:prstGeom prst="roundRect">
            <a:avLst>
              <a:gd name="adj" fmla="val 80842"/>
            </a:avLst>
          </a:prstGeom>
          <a:solidFill>
            <a:srgbClr val="38BDF8">
              <a:alpha val="8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429F4E34-8DAD-1672-6AC5-290D400D7E00}"/>
              </a:ext>
            </a:extLst>
          </p:cNvPr>
          <p:cNvSpPr/>
          <p:nvPr/>
        </p:nvSpPr>
        <p:spPr>
          <a:xfrm>
            <a:off x="487094" y="3678635"/>
            <a:ext cx="8001000" cy="601978"/>
          </a:xfrm>
          <a:prstGeom prst="roundRect">
            <a:avLst>
              <a:gd name="adj" fmla="val 80842"/>
            </a:avLst>
          </a:prstGeom>
          <a:solidFill>
            <a:srgbClr val="38BDF8">
              <a:alpha val="8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57250" y="585132"/>
            <a:ext cx="816102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Technologies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71500" y="1653541"/>
            <a:ext cx="3886200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72"/>
              </a:lnSpc>
              <a:buNone/>
            </a:pPr>
            <a:r>
              <a:rPr lang="en-US" sz="15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</a:t>
            </a:r>
            <a:endParaRPr lang="en-US" sz="1560" dirty="0"/>
          </a:p>
        </p:txBody>
      </p:sp>
      <p:sp>
        <p:nvSpPr>
          <p:cNvPr id="5" name="Text 2"/>
          <p:cNvSpPr/>
          <p:nvPr/>
        </p:nvSpPr>
        <p:spPr>
          <a:xfrm>
            <a:off x="857250" y="2032636"/>
            <a:ext cx="3524250" cy="1383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4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24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Programming Language</a:t>
            </a:r>
            <a:endParaRPr lang="en-US" sz="14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4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Selenium 4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Automation Tool</a:t>
            </a:r>
            <a:endParaRPr lang="en-US" sz="14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4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TestNG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Test Framework</a:t>
            </a:r>
            <a:endParaRPr lang="en-US" sz="14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4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Maven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Build Tool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762500" y="1653541"/>
            <a:ext cx="3886200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72"/>
              </a:lnSpc>
              <a:buNone/>
            </a:pPr>
            <a:r>
              <a:rPr lang="en-US" sz="15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&amp; Tools:</a:t>
            </a:r>
            <a:endParaRPr lang="en-US" sz="1560" dirty="0"/>
          </a:p>
        </p:txBody>
      </p:sp>
      <p:sp>
        <p:nvSpPr>
          <p:cNvPr id="7" name="Text 4"/>
          <p:cNvSpPr/>
          <p:nvPr/>
        </p:nvSpPr>
        <p:spPr>
          <a:xfrm>
            <a:off x="5048250" y="2032636"/>
            <a:ext cx="3524250" cy="1383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4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Allure Report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Advanced Reports</a:t>
            </a:r>
            <a:endParaRPr lang="en-US" sz="14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4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Log4j2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Logging Framework</a:t>
            </a:r>
            <a:endParaRPr lang="en-US" sz="14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4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Version Control</a:t>
            </a:r>
            <a:endParaRPr lang="en-US" sz="14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4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Many Browser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571500"/>
            <a:ext cx="816102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Website Under Test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71500" y="1244833"/>
            <a:ext cx="8161020" cy="301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68"/>
              </a:lnSpc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</a:t>
            </a:r>
            <a:r>
              <a:rPr lang="en-US" sz="1500" b="1" dirty="0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Website URL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ar-EG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https://demowebshop.tricentis.com/</a:t>
            </a:r>
          </a:p>
        </p:txBody>
      </p:sp>
      <p:sp>
        <p:nvSpPr>
          <p:cNvPr id="5" name="Text 2"/>
          <p:cNvSpPr/>
          <p:nvPr/>
        </p:nvSpPr>
        <p:spPr>
          <a:xfrm>
            <a:off x="571500" y="1681579"/>
            <a:ext cx="8161020" cy="301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68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Type:</a:t>
            </a: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Website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571500" y="2252096"/>
            <a:ext cx="81610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72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Pages Tested: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387379" y="2213949"/>
            <a:ext cx="4820244" cy="2491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FontTx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Page - New User Registration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Page - User Authentication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Page - Features in home page</a:t>
            </a:r>
          </a:p>
          <a:p>
            <a:pPr marL="342900" indent="-342900">
              <a:lnSpc>
                <a:spcPct val="150000"/>
              </a:lnSpc>
              <a:buSzPct val="100000"/>
              <a:buFontTx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Pages - Product Categories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Details - Product Information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Shopping Cart - Cart Management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Wishlist - Wishlist Management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- Payment Processing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1653541"/>
            <a:ext cx="2539960" cy="2160746"/>
          </a:xfrm>
          <a:prstGeom prst="roundRect">
            <a:avLst>
              <a:gd name="adj" fmla="val 33855"/>
            </a:avLst>
          </a:prstGeom>
          <a:solidFill>
            <a:srgbClr val="38BDF8">
              <a:alpha val="10000"/>
            </a:srgbClr>
          </a:solidFill>
          <a:ln w="7620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301961" y="1653541"/>
            <a:ext cx="2539960" cy="2160746"/>
          </a:xfrm>
          <a:prstGeom prst="roundRect">
            <a:avLst>
              <a:gd name="adj" fmla="val 33855"/>
            </a:avLst>
          </a:prstGeom>
          <a:solidFill>
            <a:srgbClr val="38BDF8">
              <a:alpha val="10000"/>
            </a:srgbClr>
          </a:solidFill>
          <a:ln w="7620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32421" y="1653541"/>
            <a:ext cx="2540080" cy="2160746"/>
          </a:xfrm>
          <a:prstGeom prst="roundRect">
            <a:avLst>
              <a:gd name="adj" fmla="val 33855"/>
            </a:avLst>
          </a:prstGeom>
          <a:solidFill>
            <a:srgbClr val="38BDF8">
              <a:alpha val="10000"/>
            </a:srgbClr>
          </a:solidFill>
          <a:ln w="7620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00100" y="551329"/>
            <a:ext cx="816102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UI Elements Tested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00100" y="1946911"/>
            <a:ext cx="2113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🔘 Buttons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42975" y="2247900"/>
            <a:ext cx="1970365" cy="1273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Button</a:t>
            </a:r>
            <a:endParaRPr lang="en-US" sz="1400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Button</a:t>
            </a:r>
            <a:endParaRPr lang="en-US" sz="1400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to Cart</a:t>
            </a:r>
            <a:endParaRPr lang="en-US" sz="1400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Button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530561" y="1946911"/>
            <a:ext cx="2113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Input Fields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673436" y="2247900"/>
            <a:ext cx="1970365" cy="1273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Field</a:t>
            </a:r>
            <a:endParaRPr lang="en-US" sz="1400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Field</a:t>
            </a:r>
            <a:endParaRPr lang="en-US" sz="1400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Box</a:t>
            </a:r>
            <a:endParaRPr lang="en-US" sz="1400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Quantity Input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261021" y="1946911"/>
            <a:ext cx="2113359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Dropdowns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03896" y="2247900"/>
            <a:ext cx="1970484" cy="1273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Options</a:t>
            </a:r>
            <a:endParaRPr lang="en-US" sz="1400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Country Selection</a:t>
            </a:r>
            <a:endParaRPr lang="en-US" sz="1400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Method</a:t>
            </a:r>
            <a:endParaRPr lang="en-US" sz="1400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Shipping Method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57250" y="571500"/>
            <a:ext cx="816102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Locators &amp; Wait Strategies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71500" y="1653541"/>
            <a:ext cx="3886200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72"/>
              </a:lnSpc>
              <a:buNone/>
            </a:pPr>
            <a:r>
              <a:rPr lang="en-US" sz="15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Locators Used:</a:t>
            </a:r>
            <a:endParaRPr lang="en-US" sz="1560" dirty="0"/>
          </a:p>
        </p:txBody>
      </p:sp>
      <p:sp>
        <p:nvSpPr>
          <p:cNvPr id="5" name="Text 2"/>
          <p:cNvSpPr/>
          <p:nvPr/>
        </p:nvSpPr>
        <p:spPr>
          <a:xfrm>
            <a:off x="857250" y="2032634"/>
            <a:ext cx="3524250" cy="1327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4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Selectors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Fast and Reliable</a:t>
            </a:r>
            <a:endParaRPr lang="en-US" sz="1400" dirty="0"/>
          </a:p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4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XPath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Complex Elements</a:t>
            </a:r>
            <a:endParaRPr lang="en-US" sz="1400" dirty="0"/>
          </a:p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4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&amp; Name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Basic Attributes</a:t>
            </a:r>
            <a:endParaRPr lang="en-US" sz="1400" dirty="0"/>
          </a:p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4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Names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Generic Selectors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762500" y="1653541"/>
            <a:ext cx="3886200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72"/>
              </a:lnSpc>
              <a:buNone/>
            </a:pPr>
            <a:r>
              <a:rPr lang="en-US" sz="15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Strategy:</a:t>
            </a:r>
            <a:endParaRPr lang="en-US" sz="1560" dirty="0"/>
          </a:p>
        </p:txBody>
      </p:sp>
      <p:sp>
        <p:nvSpPr>
          <p:cNvPr id="7" name="Text 4"/>
          <p:cNvSpPr/>
          <p:nvPr/>
        </p:nvSpPr>
        <p:spPr>
          <a:xfrm>
            <a:off x="5048250" y="2032634"/>
            <a:ext cx="3524250" cy="1327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4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FluentWait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Smart &amp; Flexible</a:t>
            </a:r>
            <a:endParaRPr lang="en-US" sz="1400" dirty="0"/>
          </a:p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4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Timeout: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 Seconds</a:t>
            </a:r>
            <a:endParaRPr lang="en-US" sz="1400" dirty="0"/>
          </a:p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4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Polling: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100ms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57250" y="571500"/>
            <a:ext cx="816102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Verifications &amp; Validations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71500" y="1653541"/>
            <a:ext cx="3886200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72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Assertions: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57250" y="2032634"/>
            <a:ext cx="3524250" cy="972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4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Test on Failure</a:t>
            </a:r>
            <a:endParaRPr lang="en-US" sz="1400" b="1" dirty="0"/>
          </a:p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4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Fast Fail</a:t>
            </a:r>
            <a:endParaRPr lang="en-US" sz="1400" b="1" dirty="0"/>
          </a:p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4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Critical Operations</a:t>
            </a:r>
            <a:endParaRPr lang="en-US" sz="1400" b="1" dirty="0"/>
          </a:p>
        </p:txBody>
      </p:sp>
      <p:sp>
        <p:nvSpPr>
          <p:cNvPr id="6" name="Text 3"/>
          <p:cNvSpPr/>
          <p:nvPr/>
        </p:nvSpPr>
        <p:spPr>
          <a:xfrm>
            <a:off x="4762500" y="1653541"/>
            <a:ext cx="3886200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72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Assertions: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48250" y="2032634"/>
            <a:ext cx="3524250" cy="972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4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Test Execution</a:t>
            </a:r>
            <a:endParaRPr lang="en-US" sz="1400" b="1" dirty="0"/>
          </a:p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4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All Errors</a:t>
            </a:r>
            <a:endParaRPr lang="en-US" sz="1400" b="1" dirty="0"/>
          </a:p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4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Report</a:t>
            </a:r>
            <a:endParaRPr lang="en-US" sz="14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77688" y="571500"/>
            <a:ext cx="816102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Allure Reports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1835523" y="1653918"/>
            <a:ext cx="8161020" cy="301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68"/>
              </a:lnSpc>
              <a:buNone/>
            </a:pPr>
            <a:r>
              <a:rPr lang="en-US" sz="13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</a:t>
            </a:r>
            <a:r>
              <a:rPr 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r>
              <a:rPr lang="en-US" sz="13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320" dirty="0"/>
          </a:p>
        </p:txBody>
      </p:sp>
      <p:sp>
        <p:nvSpPr>
          <p:cNvPr id="5" name="Text 2"/>
          <p:cNvSpPr/>
          <p:nvPr/>
        </p:nvSpPr>
        <p:spPr>
          <a:xfrm>
            <a:off x="2121273" y="2098495"/>
            <a:ext cx="7715250" cy="2491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Detailed Reports</a:t>
            </a:r>
            <a:endParaRPr lang="en-US" sz="15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Automatic Screenshots on Failure</a:t>
            </a:r>
            <a:endParaRPr lang="en-US" sz="15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Statistical Charts &amp; Graphs</a:t>
            </a:r>
            <a:endParaRPr lang="en-US" sz="15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Historical Trends</a:t>
            </a:r>
            <a:endParaRPr lang="en-US" sz="15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🏷️ Test Classification (Epic, Feature, Story)</a:t>
            </a:r>
            <a:endParaRPr lang="en-US" sz="15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Comprehensive Attachments</a:t>
            </a:r>
            <a:endParaRPr lang="en-US" sz="15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Retry Analysis</a:t>
            </a:r>
            <a:endParaRPr lang="en-US" sz="1500" dirty="0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A2B601BB-DA72-4277-24C6-05E63B5F754C}"/>
              </a:ext>
            </a:extLst>
          </p:cNvPr>
          <p:cNvSpPr/>
          <p:nvPr/>
        </p:nvSpPr>
        <p:spPr>
          <a:xfrm>
            <a:off x="939053" y="1425704"/>
            <a:ext cx="5784476" cy="3525103"/>
          </a:xfrm>
          <a:prstGeom prst="roundRect">
            <a:avLst>
              <a:gd name="adj" fmla="val 62809"/>
            </a:avLst>
          </a:prstGeom>
          <a:solidFill>
            <a:srgbClr val="38BDF8">
              <a:alpha val="8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1493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14770" y="1544842"/>
            <a:ext cx="2135841" cy="874395"/>
          </a:xfrm>
          <a:prstGeom prst="roundRect">
            <a:avLst>
              <a:gd name="adj" fmla="val 83660"/>
            </a:avLst>
          </a:prstGeom>
          <a:solidFill>
            <a:srgbClr val="38BDF8">
              <a:alpha val="8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52475" y="643218"/>
            <a:ext cx="816102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Results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52475" y="1687717"/>
            <a:ext cx="22604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52475" y="2078242"/>
            <a:ext cx="226043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Tests</a:t>
            </a:r>
            <a:endParaRPr lang="en-US" sz="1140" dirty="0"/>
          </a:p>
        </p:txBody>
      </p:sp>
      <p:sp>
        <p:nvSpPr>
          <p:cNvPr id="9" name="Text 6"/>
          <p:cNvSpPr/>
          <p:nvPr/>
        </p:nvSpPr>
        <p:spPr>
          <a:xfrm>
            <a:off x="3482936" y="1687717"/>
            <a:ext cx="22604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3482936" y="2078242"/>
            <a:ext cx="221611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Passed ✅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6213396" y="1687717"/>
            <a:ext cx="2260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44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213396" y="2078242"/>
            <a:ext cx="2216229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 ⚠️</a:t>
            </a:r>
            <a:endParaRPr lang="en-US" sz="1140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253979B1-26A8-140D-73AA-3CB8F6A70BBA}"/>
              </a:ext>
            </a:extLst>
          </p:cNvPr>
          <p:cNvSpPr/>
          <p:nvPr/>
        </p:nvSpPr>
        <p:spPr>
          <a:xfrm>
            <a:off x="3576380" y="1544842"/>
            <a:ext cx="2135841" cy="874395"/>
          </a:xfrm>
          <a:prstGeom prst="roundRect">
            <a:avLst>
              <a:gd name="adj" fmla="val 83660"/>
            </a:avLst>
          </a:prstGeom>
          <a:solidFill>
            <a:srgbClr val="38BDF8">
              <a:alpha val="8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7546A40A-347C-7566-CCD4-5254FB73A637}"/>
              </a:ext>
            </a:extLst>
          </p:cNvPr>
          <p:cNvSpPr/>
          <p:nvPr/>
        </p:nvSpPr>
        <p:spPr>
          <a:xfrm>
            <a:off x="6293784" y="1544841"/>
            <a:ext cx="2135841" cy="874395"/>
          </a:xfrm>
          <a:prstGeom prst="roundRect">
            <a:avLst>
              <a:gd name="adj" fmla="val 83660"/>
            </a:avLst>
          </a:prstGeom>
          <a:solidFill>
            <a:srgbClr val="38BDF8">
              <a:alpha val="8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6"/>
          <p:cNvSpPr/>
          <p:nvPr/>
        </p:nvSpPr>
        <p:spPr>
          <a:xfrm>
            <a:off x="1082801" y="2801127"/>
            <a:ext cx="7830693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28"/>
              </a:lnSpc>
              <a:buNone/>
            </a:pPr>
            <a:r>
              <a:rPr lang="en-US" sz="15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</a:t>
            </a:r>
            <a:r>
              <a:rPr lang="en-US" sz="1500" b="1" dirty="0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Time Savings:</a:t>
            </a:r>
          </a:p>
        </p:txBody>
      </p:sp>
      <p:sp>
        <p:nvSpPr>
          <p:cNvPr id="20" name="Text 7"/>
          <p:cNvSpPr/>
          <p:nvPr/>
        </p:nvSpPr>
        <p:spPr>
          <a:xfrm>
            <a:off x="1413128" y="3068270"/>
            <a:ext cx="7830693" cy="301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68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from hours to </a:t>
            </a:r>
            <a:r>
              <a:rPr lang="en-US" sz="14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minutes</a:t>
            </a:r>
            <a:endParaRPr lang="en-US" sz="1400" dirty="0"/>
          </a:p>
        </p:txBody>
      </p:sp>
      <p:sp>
        <p:nvSpPr>
          <p:cNvPr id="21" name="Text 8"/>
          <p:cNvSpPr/>
          <p:nvPr/>
        </p:nvSpPr>
        <p:spPr>
          <a:xfrm>
            <a:off x="1082801" y="3706007"/>
            <a:ext cx="7830693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28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Success Rate:</a:t>
            </a:r>
            <a:endParaRPr lang="en-US" sz="1500" dirty="0"/>
          </a:p>
        </p:txBody>
      </p:sp>
      <p:sp>
        <p:nvSpPr>
          <p:cNvPr id="22" name="Text 9"/>
          <p:cNvSpPr/>
          <p:nvPr/>
        </p:nvSpPr>
        <p:spPr>
          <a:xfrm>
            <a:off x="1413128" y="3981522"/>
            <a:ext cx="7830693" cy="301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68"/>
              </a:lnSpc>
              <a:buNone/>
            </a:pPr>
            <a:r>
              <a:rPr lang="en-US" sz="14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61.1% 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improvement potential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1653546"/>
            <a:ext cx="2539960" cy="2160746"/>
          </a:xfrm>
          <a:prstGeom prst="roundRect">
            <a:avLst>
              <a:gd name="adj" fmla="val 33855"/>
            </a:avLst>
          </a:prstGeom>
          <a:solidFill>
            <a:srgbClr val="38BDF8">
              <a:alpha val="10000"/>
            </a:srgbClr>
          </a:solidFill>
          <a:ln w="7620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301961" y="1653546"/>
            <a:ext cx="2539960" cy="2160746"/>
          </a:xfrm>
          <a:prstGeom prst="roundRect">
            <a:avLst>
              <a:gd name="adj" fmla="val 33855"/>
            </a:avLst>
          </a:prstGeom>
          <a:solidFill>
            <a:srgbClr val="38BDF8">
              <a:alpha val="10000"/>
            </a:srgbClr>
          </a:solidFill>
          <a:ln w="7620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32421" y="1653546"/>
            <a:ext cx="2540080" cy="2160746"/>
          </a:xfrm>
          <a:prstGeom prst="roundRect">
            <a:avLst>
              <a:gd name="adj" fmla="val 33855"/>
            </a:avLst>
          </a:prstGeom>
          <a:solidFill>
            <a:srgbClr val="38BDF8">
              <a:alpha val="10000"/>
            </a:srgbClr>
          </a:solidFill>
          <a:ln w="7620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00100" y="571500"/>
            <a:ext cx="816102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Skills Learned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00100" y="1946914"/>
            <a:ext cx="2113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Technical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42975" y="2247900"/>
            <a:ext cx="1970365" cy="1273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Selenium 4</a:t>
            </a:r>
            <a:endParaRPr lang="en-US" sz="1400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Advanced</a:t>
            </a:r>
            <a:endParaRPr lang="en-US" sz="1400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TestNG</a:t>
            </a:r>
            <a:endParaRPr lang="en-US" sz="1400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Object Model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530561" y="1946914"/>
            <a:ext cx="2113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Tools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592751" y="2247900"/>
            <a:ext cx="2358985" cy="1273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Allure Reports</a:t>
            </a:r>
            <a:endParaRPr lang="en-US" sz="1400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Maven Build</a:t>
            </a:r>
            <a:endParaRPr lang="en-US" sz="1400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Version Control</a:t>
            </a:r>
            <a:endParaRPr lang="en-US" sz="1400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Log4j2 Logging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261021" y="1946914"/>
            <a:ext cx="2113359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Best Practices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359070" y="2247900"/>
            <a:ext cx="2740105" cy="1273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Testing</a:t>
            </a:r>
            <a:endParaRPr lang="en-US" sz="1500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r>
              <a:rPr lang="ar-EG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</a:t>
            </a:r>
            <a:endParaRPr lang="en-US" sz="1500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Strategies</a:t>
            </a:r>
            <a:endParaRPr lang="en-US" sz="1500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Handling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1249392"/>
            <a:ext cx="8001000" cy="577211"/>
          </a:xfrm>
          <a:prstGeom prst="roundRect">
            <a:avLst>
              <a:gd name="adj" fmla="val 62809"/>
            </a:avLst>
          </a:prstGeom>
          <a:solidFill>
            <a:srgbClr val="38BDF8">
              <a:alpha val="8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52475" y="571500"/>
            <a:ext cx="816102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Improvements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52475" y="1463038"/>
            <a:ext cx="7830693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28"/>
              </a:lnSpc>
              <a:buNone/>
            </a:pPr>
            <a:r>
              <a:rPr lang="en-US" sz="14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CI/CD Integration</a:t>
            </a:r>
            <a:endParaRPr lang="en-US" sz="1440" dirty="0"/>
          </a:p>
        </p:txBody>
      </p:sp>
      <p:sp>
        <p:nvSpPr>
          <p:cNvPr id="9" name="Text 6"/>
          <p:cNvSpPr/>
          <p:nvPr/>
        </p:nvSpPr>
        <p:spPr>
          <a:xfrm>
            <a:off x="2787463" y="1326933"/>
            <a:ext cx="7830693" cy="301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68"/>
              </a:lnSpc>
              <a:buNone/>
            </a:pPr>
            <a:r>
              <a:rPr lang="en-US" sz="13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with Jenkins/GitHub Actions for automated testing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752475" y="2190757"/>
            <a:ext cx="7830693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28"/>
              </a:lnSpc>
              <a:buNone/>
            </a:pPr>
            <a:r>
              <a:rPr lang="en-US" sz="14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🐳 Docker Containerization</a:t>
            </a:r>
            <a:endParaRPr lang="en-US" sz="1440" dirty="0"/>
          </a:p>
        </p:txBody>
      </p:sp>
      <p:sp>
        <p:nvSpPr>
          <p:cNvPr id="11" name="Text 8"/>
          <p:cNvSpPr/>
          <p:nvPr/>
        </p:nvSpPr>
        <p:spPr>
          <a:xfrm>
            <a:off x="3414992" y="2050345"/>
            <a:ext cx="7830693" cy="301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68"/>
              </a:lnSpc>
              <a:buNone/>
            </a:pPr>
            <a:r>
              <a:rPr lang="en-US" sz="13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tests in isolated, portable environments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752475" y="2969876"/>
            <a:ext cx="7830693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28"/>
              </a:lnSpc>
              <a:buNone/>
            </a:pPr>
            <a:r>
              <a:rPr lang="en-US" sz="14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Parallel Execution</a:t>
            </a:r>
            <a:endParaRPr lang="en-US" sz="1440" dirty="0"/>
          </a:p>
        </p:txBody>
      </p:sp>
      <p:sp>
        <p:nvSpPr>
          <p:cNvPr id="13" name="Text 10"/>
          <p:cNvSpPr/>
          <p:nvPr/>
        </p:nvSpPr>
        <p:spPr>
          <a:xfrm>
            <a:off x="2803275" y="2864213"/>
            <a:ext cx="7830693" cy="301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68"/>
              </a:lnSpc>
              <a:buNone/>
            </a:pPr>
            <a:r>
              <a:rPr lang="en-US" sz="13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multiple tests simultaneously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752475" y="3676821"/>
            <a:ext cx="7830693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28"/>
              </a:lnSpc>
              <a:buNone/>
            </a:pPr>
            <a:r>
              <a:rPr lang="en-US" sz="14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Mobile Testing</a:t>
            </a:r>
            <a:endParaRPr lang="en-US" sz="1440" dirty="0"/>
          </a:p>
        </p:txBody>
      </p:sp>
      <p:sp>
        <p:nvSpPr>
          <p:cNvPr id="15" name="Text 12"/>
          <p:cNvSpPr/>
          <p:nvPr/>
        </p:nvSpPr>
        <p:spPr>
          <a:xfrm>
            <a:off x="2534334" y="3569123"/>
            <a:ext cx="7830693" cy="301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68"/>
              </a:lnSpc>
              <a:buNone/>
            </a:pPr>
            <a:r>
              <a:rPr lang="en-US" sz="13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mobile device testing with Appium</a:t>
            </a:r>
            <a:endParaRPr lang="en-US" sz="1320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9D53C6DC-C92B-DD66-A5C7-1DE45110F530}"/>
              </a:ext>
            </a:extLst>
          </p:cNvPr>
          <p:cNvSpPr/>
          <p:nvPr/>
        </p:nvSpPr>
        <p:spPr>
          <a:xfrm>
            <a:off x="571500" y="2001867"/>
            <a:ext cx="8001000" cy="577211"/>
          </a:xfrm>
          <a:prstGeom prst="roundRect">
            <a:avLst>
              <a:gd name="adj" fmla="val 62809"/>
            </a:avLst>
          </a:prstGeom>
          <a:solidFill>
            <a:srgbClr val="38BDF8">
              <a:alpha val="8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0">
            <a:extLst>
              <a:ext uri="{FF2B5EF4-FFF2-40B4-BE49-F238E27FC236}">
                <a16:creationId xmlns:a16="http://schemas.microsoft.com/office/drawing/2014/main" id="{B93390DF-3FB5-46E4-5A8E-491A488AE734}"/>
              </a:ext>
            </a:extLst>
          </p:cNvPr>
          <p:cNvSpPr/>
          <p:nvPr/>
        </p:nvSpPr>
        <p:spPr>
          <a:xfrm>
            <a:off x="571500" y="2791914"/>
            <a:ext cx="8001000" cy="577211"/>
          </a:xfrm>
          <a:prstGeom prst="roundRect">
            <a:avLst>
              <a:gd name="adj" fmla="val 62809"/>
            </a:avLst>
          </a:prstGeom>
          <a:solidFill>
            <a:srgbClr val="38BDF8">
              <a:alpha val="8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0">
            <a:extLst>
              <a:ext uri="{FF2B5EF4-FFF2-40B4-BE49-F238E27FC236}">
                <a16:creationId xmlns:a16="http://schemas.microsoft.com/office/drawing/2014/main" id="{976D37DE-CF8E-F8DE-147D-D34153197473}"/>
              </a:ext>
            </a:extLst>
          </p:cNvPr>
          <p:cNvSpPr/>
          <p:nvPr/>
        </p:nvSpPr>
        <p:spPr>
          <a:xfrm>
            <a:off x="582168" y="3540053"/>
            <a:ext cx="8001000" cy="577211"/>
          </a:xfrm>
          <a:prstGeom prst="roundRect">
            <a:avLst>
              <a:gd name="adj" fmla="val 62809"/>
            </a:avLst>
          </a:prstGeom>
          <a:solidFill>
            <a:srgbClr val="38BDF8">
              <a:alpha val="8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193251" y="1028942"/>
            <a:ext cx="275738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427812" y="2387974"/>
            <a:ext cx="6288258" cy="2432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44"/>
              </a:lnSpc>
              <a:buNone/>
            </a:pPr>
            <a:r>
              <a:rPr lang="en-US" sz="6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 🙏</a:t>
            </a:r>
            <a:endParaRPr lang="en-US" sz="66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140</TotalTime>
  <Words>454</Words>
  <Application>Microsoft Office PowerPoint</Application>
  <PresentationFormat>On-screen Show (16:9)</PresentationFormat>
  <Paragraphs>137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Tw Cen MT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OMARić ⚡</cp:lastModifiedBy>
  <cp:revision>50</cp:revision>
  <dcterms:created xsi:type="dcterms:W3CDTF">2025-12-02T20:12:28Z</dcterms:created>
  <dcterms:modified xsi:type="dcterms:W3CDTF">2025-12-03T08:58:27Z</dcterms:modified>
</cp:coreProperties>
</file>